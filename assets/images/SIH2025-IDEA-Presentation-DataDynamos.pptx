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7" r:id="rId4"/>
    <p:sldId id="290" r:id="rId5"/>
    <p:sldId id="293" r:id="rId6"/>
    <p:sldId id="294" r:id="rId7"/>
    <p:sldId id="296" r:id="rId8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962" autoAdjust="0"/>
    <p:restoredTop sz="94660"/>
  </p:normalViewPr>
  <p:slideViewPr>
    <p:cSldViewPr snapToGrid="0" snapToObjects="1">
      <p:cViewPr>
        <p:scale>
          <a:sx n="66" d="100"/>
          <a:sy n="66" d="100"/>
        </p:scale>
        <p:origin x="1190" y="317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9/24/2025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9/24/2025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9/24/2025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9/24/2025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9/24/2025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9/24/2025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9/24/2025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aggle.com/datasets/alfredkondoro/digital-water-level-recorder-dwlr-sensor-data?resource=download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hyperlink" Target="https://link.springer.com/article/10.1007/s11269-015-0932-z" TargetMode="External"/><Relationship Id="rId4" Type="http://schemas.openxmlformats.org/officeDocument/2006/relationships/hyperlink" Target="https://github.com/miketobz/ML-Rainfall-Prediction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306966" y="229278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Dynamos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3D41061-8B59-CDE0-3C6D-6F51EB2332B6}"/>
              </a:ext>
            </a:extLst>
          </p:cNvPr>
          <p:cNvSpPr txBox="1"/>
          <p:nvPr/>
        </p:nvSpPr>
        <p:spPr>
          <a:xfrm>
            <a:off x="331286" y="1174149"/>
            <a:ext cx="5924550" cy="5425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SIH25068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	Real time Groundwater resource 	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	evaluation using DWLR data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Theme-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Miscellaneous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PS Category- Software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ID-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P142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Name: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Data Dynamos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2025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-7172490" y="2274506"/>
            <a:ext cx="6727241" cy="48097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</a:t>
            </a: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– </a:t>
            </a:r>
            <a:r>
              <a:rPr lang="en-US" sz="2400" dirty="0">
                <a:latin typeface="Aptos" panose="020B0004020202020204" pitchFamily="34" charset="0"/>
                <a:cs typeface="Arial" panose="020B0604020202020204" pitchFamily="34" charset="0"/>
              </a:rPr>
              <a:t>SIH25068</a:t>
            </a:r>
            <a:endParaRPr lang="en-US" sz="2400" b="1" dirty="0">
              <a:latin typeface="Aptos" panose="020B00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</a:t>
            </a:r>
          </a:p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Real time Groundwater resource 	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	evaluation using DWLR data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Theme-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Miscellaneous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PS Category- Software/Hardware: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Software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200000"/>
              </a:lnSpc>
            </a:pP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26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62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509104" y="0"/>
            <a:ext cx="10972800" cy="1143000"/>
          </a:xfrm>
        </p:spPr>
        <p:txBody>
          <a:bodyPr/>
          <a:lstStyle/>
          <a:p>
            <a:pPr eaLnBrk="1" hangingPunct="1"/>
            <a:br>
              <a:rPr lang="en-US" sz="3600" b="1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GROUNDWATER EVALUATION </a:t>
            </a:r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USING DWLR DATA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1" y="1106405"/>
            <a:ext cx="12191999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just"/>
            <a:endParaRPr lang="en-US" sz="2000" b="1" dirty="0">
              <a:latin typeface="Arial" pitchFamily="34" charset="0"/>
              <a:cs typeface="Arial" pitchFamily="34" charset="0"/>
            </a:endParaRPr>
          </a:p>
          <a:p>
            <a:pPr algn="just"/>
            <a:r>
              <a:rPr lang="en-US" sz="2000" b="1" dirty="0">
                <a:latin typeface="Arial" pitchFamily="34" charset="0"/>
                <a:cs typeface="Arial" pitchFamily="34" charset="0"/>
              </a:rPr>
              <a:t>          How to address the problem?</a:t>
            </a:r>
          </a:p>
          <a:p>
            <a:pPr algn="just"/>
            <a:endParaRPr lang="en-US" sz="2000" b="1" dirty="0">
              <a:latin typeface="Arial" pitchFamily="34" charset="0"/>
              <a:cs typeface="Arial" pitchFamily="34" charset="0"/>
            </a:endParaRPr>
          </a:p>
          <a:p>
            <a:pPr algn="just"/>
            <a:endParaRPr lang="en-US" sz="2000" b="1" dirty="0">
              <a:latin typeface="Arial" pitchFamily="34" charset="0"/>
              <a:cs typeface="Arial" pitchFamily="34" charset="0"/>
            </a:endParaRPr>
          </a:p>
          <a:p>
            <a:pPr algn="just"/>
            <a:endParaRPr lang="en-US" sz="2000" b="1" dirty="0">
              <a:latin typeface="Arial" pitchFamily="34" charset="0"/>
              <a:cs typeface="Arial" pitchFamily="34" charset="0"/>
            </a:endParaRPr>
          </a:p>
          <a:p>
            <a:pPr algn="just"/>
            <a:endParaRPr lang="en-US" sz="2000" b="1" dirty="0">
              <a:latin typeface="Arial" pitchFamily="34" charset="0"/>
              <a:cs typeface="Arial" pitchFamily="34" charset="0"/>
            </a:endParaRPr>
          </a:p>
          <a:p>
            <a:pPr algn="just"/>
            <a:endParaRPr lang="en-US" sz="2000" b="1" dirty="0">
              <a:latin typeface="Arial" pitchFamily="34" charset="0"/>
              <a:cs typeface="Arial" pitchFamily="34" charset="0"/>
            </a:endParaRPr>
          </a:p>
          <a:p>
            <a:pPr lvl="1" algn="just"/>
            <a:endParaRPr lang="en-US" sz="20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819869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Dynamos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2B0D753-49C6-F30F-F47E-17B58E1CA2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5023" y="1373258"/>
            <a:ext cx="4196105" cy="241687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B6EB283-39D0-4278-49A7-CA6A577DFE8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4101" y="1833614"/>
            <a:ext cx="4372970" cy="431496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2E81E2F3-B82B-1665-F6FD-B60B844D33B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0" y="3790133"/>
            <a:ext cx="4385624" cy="253016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2025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4703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Theme-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PS Category- Software/Hardware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ID-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Name (Registered on portal)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26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62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0" y="983227"/>
            <a:ext cx="11887200" cy="52629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Arial" pitchFamily="34" charset="0"/>
                <a:cs typeface="Arial" pitchFamily="34" charset="0"/>
              </a:rPr>
              <a:t>Technologies to be used: Flutter, Python, VPS or Cloud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latin typeface="Arial" pitchFamily="34" charset="0"/>
                <a:cs typeface="Arial" pitchFamily="34" charset="0"/>
              </a:rPr>
              <a:t>Methodology and process for implementation: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800" dirty="0">
              <a:latin typeface="Arial" pitchFamily="34" charset="0"/>
              <a:cs typeface="Arial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800" dirty="0">
              <a:latin typeface="Arial" pitchFamily="34" charset="0"/>
              <a:cs typeface="Arial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800" dirty="0">
              <a:latin typeface="Arial" pitchFamily="34" charset="0"/>
              <a:cs typeface="Arial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800" dirty="0">
              <a:latin typeface="Arial" pitchFamily="34" charset="0"/>
              <a:cs typeface="Arial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800" dirty="0">
              <a:latin typeface="Arial" pitchFamily="34" charset="0"/>
              <a:cs typeface="Arial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800" dirty="0">
              <a:latin typeface="Arial" pitchFamily="34" charset="0"/>
              <a:cs typeface="Arial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800" dirty="0">
              <a:latin typeface="Arial" pitchFamily="34" charset="0"/>
              <a:cs typeface="Arial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800" dirty="0">
              <a:latin typeface="Arial" pitchFamily="34" charset="0"/>
              <a:cs typeface="Arial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800" dirty="0">
              <a:latin typeface="Arial" pitchFamily="34" charset="0"/>
              <a:cs typeface="Arial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8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4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Oval 1" descr="Your startup LOGO">
            <a:extLst>
              <a:ext uri="{FF2B5EF4-FFF2-40B4-BE49-F238E27FC236}">
                <a16:creationId xmlns:a16="http://schemas.microsoft.com/office/drawing/2014/main" id="{5139FC78-41F8-2E21-0E0C-C9200A276C65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819869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Dynamos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2" name="Oval 1" descr="Your startup LOGO">
            <a:extLst>
              <a:ext uri="{FF2B5EF4-FFF2-40B4-BE49-F238E27FC236}">
                <a16:creationId xmlns:a16="http://schemas.microsoft.com/office/drawing/2014/main" id="{6FD941FD-AC5B-971B-BC13-F06AB1190B33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819869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Dynamos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C22EAEF-19FC-C18F-497E-D01AE475DB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3145" y="1284687"/>
            <a:ext cx="4969255" cy="454612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9861D615-27EE-C23D-3905-3714419C90D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9892" y="1284686"/>
            <a:ext cx="5613253" cy="4546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2" name="Oval 1" descr="Your startup LOGO">
            <a:extLst>
              <a:ext uri="{FF2B5EF4-FFF2-40B4-BE49-F238E27FC236}">
                <a16:creationId xmlns:a16="http://schemas.microsoft.com/office/drawing/2014/main" id="{E41D20DD-7A3B-7F12-E799-8BC0B23A74FF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819869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Dynamos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49089F1-5BF2-8AAF-90D3-2D12E42D65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773" y="1095376"/>
            <a:ext cx="11629616" cy="525938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D38AD8A-B404-8645-4E7B-1EB4579A232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1395246"/>
            <a:ext cx="5105401" cy="4584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141514" y="1095375"/>
            <a:ext cx="11777769" cy="53245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457200" indent="-457200" algn="just">
              <a:buFont typeface="+mj-lt"/>
              <a:buAutoNum type="arabicPeriod"/>
            </a:pPr>
            <a:r>
              <a:rPr lang="en-IN" sz="2000" dirty="0"/>
              <a:t>One year data on water level, temperature, rainfall, pH, and dissolved </a:t>
            </a:r>
            <a:r>
              <a:rPr lang="en-IN" sz="2000" dirty="0" err="1"/>
              <a:t>oxygen:</a:t>
            </a:r>
            <a:r>
              <a:rPr lang="en-IN" sz="2000" dirty="0" err="1">
                <a:hlinkClick r:id="rId3"/>
              </a:rPr>
              <a:t>https</a:t>
            </a:r>
            <a:r>
              <a:rPr lang="en-IN" sz="2000" dirty="0">
                <a:hlinkClick r:id="rId3"/>
              </a:rPr>
              <a:t>://www.kaggle.com/datasets/alfredkondoro/digital-water-level </a:t>
            </a:r>
            <a:r>
              <a:rPr lang="en-IN" sz="2000" dirty="0" err="1">
                <a:hlinkClick r:id="rId3"/>
              </a:rPr>
              <a:t>recorder-dwlr-sensor-data?resource</a:t>
            </a:r>
            <a:r>
              <a:rPr lang="en-IN" sz="2000" dirty="0">
                <a:hlinkClick r:id="rId3"/>
              </a:rPr>
              <a:t>=download</a:t>
            </a:r>
            <a:endParaRPr lang="en-IN" sz="2000" dirty="0"/>
          </a:p>
          <a:p>
            <a:pPr marL="457200" indent="-457200" algn="just">
              <a:buFont typeface="+mj-lt"/>
              <a:buAutoNum type="arabicPeriod"/>
            </a:pPr>
            <a:endParaRPr lang="en-IN" sz="2000" dirty="0"/>
          </a:p>
          <a:p>
            <a:pPr marL="457200" indent="-457200" algn="just">
              <a:buFont typeface="+mj-lt"/>
              <a:buAutoNum type="arabicPeriod"/>
            </a:pPr>
            <a:r>
              <a:rPr lang="en-IN" sz="2000" dirty="0"/>
              <a:t>Rainfall prediction with a machine learning algorithm: </a:t>
            </a:r>
            <a:r>
              <a:rPr lang="en-IN" sz="2000" dirty="0">
                <a:hlinkClick r:id="rId4"/>
              </a:rPr>
              <a:t>https://github.com/miketobz/ML-Rainfall-Prediction</a:t>
            </a:r>
            <a:endParaRPr lang="en-IN" sz="2000" dirty="0"/>
          </a:p>
          <a:p>
            <a:pPr marL="457200" indent="-457200" algn="just">
              <a:buFont typeface="+mj-lt"/>
              <a:buAutoNum type="arabicPeriod"/>
            </a:pPr>
            <a:endParaRPr lang="en-IN" sz="2000" dirty="0"/>
          </a:p>
          <a:p>
            <a:pPr marL="457200" indent="-457200" algn="just">
              <a:buFont typeface="+mj-lt"/>
              <a:buAutoNum type="arabicPeriod"/>
            </a:pPr>
            <a:r>
              <a:rPr lang="en-IN" sz="2000" dirty="0"/>
              <a:t>Groundwater storage and depletion Trends in </a:t>
            </a:r>
            <a:r>
              <a:rPr lang="en-IN" sz="2000" dirty="0" err="1"/>
              <a:t>TamilNadu</a:t>
            </a:r>
            <a:r>
              <a:rPr lang="en-IN" sz="2000" dirty="0"/>
              <a:t>, India by P Chinnasamy and G </a:t>
            </a:r>
            <a:r>
              <a:rPr lang="en-IN" sz="2000" dirty="0" err="1"/>
              <a:t>Agoramoorthy</a:t>
            </a:r>
            <a:r>
              <a:rPr lang="en-IN" sz="2000" dirty="0"/>
              <a:t>: </a:t>
            </a:r>
            <a:r>
              <a:rPr lang="en-IN" sz="2000" dirty="0">
                <a:hlinkClick r:id="rId5"/>
              </a:rPr>
              <a:t>https://link.springer.com/article/10.1007/s11269-015-0932-z</a:t>
            </a:r>
            <a:endParaRPr lang="en-IN" sz="2000" dirty="0"/>
          </a:p>
          <a:p>
            <a:pPr marL="457200" indent="-457200" algn="just">
              <a:buFont typeface="+mj-lt"/>
              <a:buAutoNum type="arabicPeriod"/>
            </a:pPr>
            <a:endParaRPr lang="en-IN" sz="2000" dirty="0"/>
          </a:p>
          <a:p>
            <a:pPr marL="457200" indent="-457200" algn="just">
              <a:buFont typeface="+mj-lt"/>
              <a:buAutoNum type="arabicPeriod"/>
            </a:pPr>
            <a:r>
              <a:rPr lang="en-IN" sz="2000" dirty="0"/>
              <a:t>Zhang, </a:t>
            </a:r>
            <a:r>
              <a:rPr lang="en-IN" sz="2000" dirty="0" err="1"/>
              <a:t>Qixiao</a:t>
            </a:r>
            <a:r>
              <a:rPr lang="en-IN" sz="2000" dirty="0"/>
              <a:t>, </a:t>
            </a:r>
            <a:r>
              <a:rPr lang="en-IN" sz="2000" dirty="0" err="1"/>
              <a:t>Peiyue</a:t>
            </a:r>
            <a:r>
              <a:rPr lang="en-IN" sz="2000" dirty="0"/>
              <a:t> Li, Xiaofei Ren, Jing Ning, Jiahui Li, </a:t>
            </a:r>
            <a:r>
              <a:rPr lang="en-IN" sz="2000" dirty="0" err="1"/>
              <a:t>Cuishan</a:t>
            </a:r>
            <a:r>
              <a:rPr lang="en-IN" sz="2000" dirty="0"/>
              <a:t> Liu, Yan Wang, and </a:t>
            </a:r>
            <a:r>
              <a:rPr lang="en-IN" sz="2000" dirty="0" err="1"/>
              <a:t>Guoqing</a:t>
            </a:r>
            <a:r>
              <a:rPr lang="en-IN" sz="2000" dirty="0"/>
              <a:t> Wang. "A new real-time groundwater level forecasting strategy: Coupling hybrid data-driven models with remote sensing data." Journal of Hydrology 625 (2023): 129962.</a:t>
            </a:r>
          </a:p>
          <a:p>
            <a:pPr marL="457200" indent="-457200" algn="just">
              <a:buFont typeface="+mj-lt"/>
              <a:buAutoNum type="arabicPeriod"/>
            </a:pPr>
            <a:endParaRPr lang="en-IN" sz="2000" dirty="0"/>
          </a:p>
          <a:p>
            <a:pPr marL="457200" indent="-457200" algn="just">
              <a:buFont typeface="+mj-lt"/>
              <a:buAutoNum type="arabicPeriod"/>
            </a:pPr>
            <a:r>
              <a:rPr lang="en-IN" sz="2000" dirty="0"/>
              <a:t>Zhu, </a:t>
            </a:r>
            <a:r>
              <a:rPr lang="en-IN" sz="2000" dirty="0" err="1"/>
              <a:t>Feilin</a:t>
            </a:r>
            <a:r>
              <a:rPr lang="en-IN" sz="2000" dirty="0"/>
              <a:t>, Ou Zhu, Mingyu Han, </a:t>
            </a:r>
            <a:r>
              <a:rPr lang="en-IN" sz="2000" dirty="0" err="1"/>
              <a:t>Weifeng</a:t>
            </a:r>
            <a:r>
              <a:rPr lang="en-IN" sz="2000" dirty="0"/>
              <a:t> Liu, </a:t>
            </a:r>
            <a:r>
              <a:rPr lang="en-IN" sz="2000" dirty="0" err="1"/>
              <a:t>Xuning</a:t>
            </a:r>
            <a:r>
              <a:rPr lang="en-IN" sz="2000" dirty="0"/>
              <a:t> Guo, Tiantian Hou, </a:t>
            </a:r>
            <a:r>
              <a:rPr lang="en-IN" sz="2000" dirty="0" err="1"/>
              <a:t>Lingqi</a:t>
            </a:r>
            <a:r>
              <a:rPr lang="en-IN" sz="2000" dirty="0"/>
              <a:t> Zhao, </a:t>
            </a:r>
            <a:r>
              <a:rPr lang="en-IN" sz="2000" dirty="0" err="1"/>
              <a:t>Chengjing</a:t>
            </a:r>
            <a:r>
              <a:rPr lang="en-IN" sz="2000" dirty="0"/>
              <a:t> Xu, and Ping-an Zhong. "A hybrid process-data driven framework for real-time hydrological forecasting with interpretable deep learning." Journal of Hydrology (2025): 134082.</a:t>
            </a:r>
          </a:p>
          <a:p>
            <a:pPr marL="457200" marR="0" lvl="0" indent="-4572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2" name="Oval 1" descr="Your startup LOGO">
            <a:extLst>
              <a:ext uri="{FF2B5EF4-FFF2-40B4-BE49-F238E27FC236}">
                <a16:creationId xmlns:a16="http://schemas.microsoft.com/office/drawing/2014/main" id="{4C32697D-2926-30D6-FCB2-6038A6CC0F93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819869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Dynamos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Picture 2" descr="https://www.sih.gov.in/img1/SIH-Logo.png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7702</TotalTime>
  <Words>367</Words>
  <Application>Microsoft Office PowerPoint</Application>
  <PresentationFormat>Widescreen</PresentationFormat>
  <Paragraphs>79</Paragraphs>
  <Slides>7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Aptos</vt:lpstr>
      <vt:lpstr>Arial</vt:lpstr>
      <vt:lpstr>Calibri</vt:lpstr>
      <vt:lpstr>Garamond</vt:lpstr>
      <vt:lpstr>Times New Roman</vt:lpstr>
      <vt:lpstr>TradeGothic</vt:lpstr>
      <vt:lpstr>Office Theme</vt:lpstr>
      <vt:lpstr>SMART INDIA HACKATHON 2025</vt:lpstr>
      <vt:lpstr> GROUNDWATER EVALUATION USING DWLR DATA</vt:lpstr>
      <vt:lpstr>SMART INDIA HACKATHON 2025</vt:lpstr>
      <vt:lpstr>TECHNICAL APPROACH</vt:lpstr>
      <vt:lpstr>FEASIBILITY AND VIABILITY</vt:lpstr>
      <vt:lpstr>IMPACT AND BENEFITS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BALAKUMARAN S</cp:lastModifiedBy>
  <cp:revision>153</cp:revision>
  <dcterms:created xsi:type="dcterms:W3CDTF">2013-12-12T18:46:50Z</dcterms:created>
  <dcterms:modified xsi:type="dcterms:W3CDTF">2025-09-24T01:35:45Z</dcterms:modified>
  <cp:category/>
</cp:coreProperties>
</file>